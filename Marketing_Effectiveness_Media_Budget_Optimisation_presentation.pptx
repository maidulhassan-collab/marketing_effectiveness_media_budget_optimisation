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1193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business decision: can a fixed media budget work harder? All analysis uses synthetic data created for portfolio and learning purposes. No company ownership is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a hypothetical consumer business investing across TV, Search, Meta, YouTube and out-of-home. The objective is model-supported allocation, not a causal claim from observational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workflow left to right on each row. The clean analytical data contains 156 observations from January 2023 through December 2025. SQL provides validation and an audit trail; Pandas supports EDA; statsmodels provides econometric models; SciPy solves constrained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 data_quality_check.sql and data_cleaning.sql. Repairs: W023 Search 2.56; W068 distribution 88.25; W119 Meta 3.15; W045 OOH -0.80 to 3.01; W092 promotion 75 to 0; W030 exact duplicate removed. Local interpolation uses adjacent weeks. These are project-specific judgements, not universal cleaning rules. The archive has scripts, not a database execution log; do not claim independent PostgreSQL re-execution.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annual averages: 105292.00 in 2023; 114815.66 in 2024; 122414.27 in 2025. The chart is redrawn from raw sales after exact duplicate removal; sales values are unchanged by the cleaning script. Promotion, distribution and holidays show positive exploratory associations; price is negatively associated. Promotion and price are strongly related, so standalone correlations can mislead.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Base model excludes media and includes price, promotion, distribution, holidays, competitor activity, trend and two sine/cosine seasonal harmonics. Fit is in-sample. In the base model price and promotion VIFs are approximately 32.5 and 32.6; promotion effects should not be interpreted in isolation. Trend and seasonality are important controls but not every seasonal coefficient is statistically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Adstock models persistence after a campaign. The illustrative pulse uses TV decay 0.60: relative effects 1, 0.60, 0.36. Saturation is x/(x+theta), using TV theta 14 for the diagram. Notebook channel decay values: TV .60, Search .20, Meta .35, YouTube .45, OOH .50. Theta: 14, 5.5, 7.5, 5, 6.5. These settings are specified in the notebook; no parameter search or uncertainty range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OLS comparison values are from MMM notebook outputs. Attribution is a separate constrained least-squares fit: R2 .8492183603150396 and RMSE 5341.161832338219. Breusch-Pagan and Durbin-Watson diagnostics quoted here apply to the raw-media full model in the econometrics notebook, not automatically to the constrained fit. BP does not reject homoscedasticity; DW is near two. No held-out or rolling temporal validation is in the supplied outputs. Unconstrained transformed-media coefficients: TV p=.447, Search p=.455, Meta p=.725, YouTube p=.030, OOH p=.005. Wide media uncertainty should temper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Contribution is full predicted sales minus channel-zero counterfactual predicted sales. Total modelled media incremental units approximately 5.234 million over 156 weeks. Channels: TV .934m, Search .425m, Meta zero, YouTube 1.698m, OOH 2.177m. OOH+YouTube shares 41.586%+32.441%=74.027%. Attribution uses transformed media set to zero, not observed experimental removal. Baseline includes intercept and all non-media predictors. No causal or experimental validation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Revenue is computed week by week using channel contribution times avg_price_bdt divided by one million, then summed and divided by total channel spend in BDT million. Exact ROAS: TV .553042; Search .632929; Meta 0; YouTube 3.089985; OOH 3.454851. Dashed line marks 1x revenue/spend, not profit breakeven. The notebook separately assumes a 35% contribution margin; no margin or profit claim is required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Steady-state response = coefficient * spend / (spend + theta*(1-decay)). Derivative = coefficient*a/(spend+a)^2, where a=theta*(1-decay). Current marginal units: TV 495.2941, Search 758.2976, Meta effectively zero, YouTube 3344.294, OOH 3789.717. These are local derivatives, not guaranteed effects of a full BDT million shift. Curves hold model parameters fixed and do not model changing creative, price, competition or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 allocation_summary.csv. Current→optimised weekly spend BDT million: TV 5.950769→4.941212; Search 2.366987→3.077083; Meta 3.156282→2.209397; YouTube 1.935705→2.516417; OOH 2.218782→2.884417. Total 15.628525641. Search rises despite lower marginal return because higher-return YouTube and OOH hit +30% bounds while Meta falls to -30%; the remaining budget is redistributed under the fixed-total constraint. Scenario applies to average weekly steady-state spend, not an optimised week-by-week flighting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Exact main scenario: current media response 34019.178810841615; optimised 37935.360114602445; difference 3916.18130376083; uplift 11.511686762153051%. Sensitivity outputs: ±15% 6.1661511%; ±30% 11.5116868%; ±50% 17.6262713%. These are steady-state weekly media response estimates. Do not describe as 11.5% total sales growth or multiply by 156 to claim a realised gain. Parameters are not re-estimated across scenarios and confidence intervals are not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Recommendations are proposed next steps, not completed experiments. The project demonstrates PostgreSQL SQL, Pandas EDA, statsmodels OLS/HAC diagnostics, adstock, saturation, constrained least-squares attribution, ROAS, analytic response derivatives and SciPy SLSQP optimisation. Important limitations: synthetic data; 156 observations; price/promotion collinearity; weak identification for some channels; fixed transformation settings; no out-of-sample validation; no uncertainty interval for optimisation. Source inventory: three notebooks, two SQL scripts, raw CSV/XLSX, chart outputs and allocation CSV. No standalone project report was present in the supplied archive. Presentation charts have been redrawn from source data or notebook outputs for consistent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1">
                <a:solidFill>
                  <a:srgbClr val="77C4CC"/>
                </a:solidFill>
                <a:latin typeface="Aptos"/>
              </a:defRPr>
            </a:pPr>
            <a:r>
              <a:t>PORTFOLIO CASE STUDY  /  MARKETING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8755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Marketing Effectiveness &amp;</a:t>
            </a:r>
          </a:p>
          <a:p>
            <a:pPr>
              <a:spcAft>
                <a:spcPts val="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Media Budget Optimisation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03320"/>
            <a:ext cx="98755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CAD8E5"/>
                </a:solidFill>
                <a:latin typeface="Aptos"/>
              </a:defRPr>
            </a:pPr>
            <a:r>
              <a:t>An End-to-End Marketing Mix Modelling</a:t>
            </a:r>
          </a:p>
          <a:p>
            <a:pPr>
              <a:spcAft>
                <a:spcPts val="0"/>
              </a:spcAft>
              <a:defRPr sz="2300" b="0">
                <a:solidFill>
                  <a:srgbClr val="CAD8E5"/>
                </a:solidFill>
                <a:latin typeface="Aptos"/>
              </a:defRPr>
            </a:pPr>
            <a:r>
              <a:t>and Econometric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754880"/>
            <a:ext cx="1097280" cy="45720"/>
          </a:xfrm>
          <a:prstGeom prst="rect">
            <a:avLst/>
          </a:prstGeom>
          <a:solidFill>
            <a:srgbClr val="D4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CAD8E5"/>
                </a:solidFill>
                <a:latin typeface="Aptos"/>
              </a:defRPr>
            </a:pPr>
            <a:r>
              <a:t>PostgreSQL  |  Python  |  Econometrics  |  Marketing Mix Modelling  | 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200" b="0">
                <a:solidFill>
                  <a:srgbClr val="CAD8E5"/>
                </a:solidFill>
                <a:latin typeface="Aptos"/>
              </a:defRPr>
            </a:pPr>
            <a:r>
              <a:t>Synthetic but business-realistic dataset created for portfolio and learning purposes.</a:t>
            </a:r>
          </a:p>
          <a:p>
            <a:pPr>
              <a:spcAft>
                <a:spcPts val="0"/>
              </a:spcAft>
              <a:defRPr sz="1200" b="0">
                <a:solidFill>
                  <a:srgbClr val="CAD8E5"/>
                </a:solidFill>
                <a:latin typeface="Aptos"/>
              </a:defRPr>
            </a:pPr>
            <a:r>
              <a:t>Illustrative consumer-business setting; no real company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Can the existing marketing budget generate more sales?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The decision: understand effectiveness before changing the media mix.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Project scope &amp; media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2057400" cy="5943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TV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2331720"/>
            <a:ext cx="2057400" cy="5943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44952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2331720"/>
            <a:ext cx="2057400" cy="5943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66944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Meta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6056" y="2331720"/>
            <a:ext cx="2057400" cy="5943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88936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YouTube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28048" y="2331720"/>
            <a:ext cx="2057400" cy="5943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10928" y="246888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OOH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375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D4A34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130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0243A"/>
                </a:solidFill>
                <a:latin typeface="Aptos"/>
              </a:defRPr>
            </a:pPr>
            <a:r>
              <a:t>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57587"/>
                </a:solidFill>
                <a:latin typeface="Aptos"/>
              </a:defRPr>
            </a:pPr>
            <a:r>
              <a:t>What actually drives weekly sales?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33375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D4A34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38130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0243A"/>
                </a:solidFill>
                <a:latin typeface="Aptos"/>
              </a:defRPr>
            </a:pPr>
            <a:r>
              <a:t>Incrementality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434340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57587"/>
                </a:solidFill>
                <a:latin typeface="Aptos"/>
              </a:defRPr>
            </a:pPr>
            <a:r>
              <a:t>How many sales units does each channel add?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33375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D4A34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38130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0243A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434340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57587"/>
                </a:solidFill>
                <a:latin typeface="Aptos"/>
              </a:defRPr>
            </a:pPr>
            <a:r>
              <a:t>Which channels deliver better returns?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33375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D4A3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38130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0243A"/>
                </a:solidFill>
                <a:latin typeface="Aptos"/>
              </a:defRPr>
            </a:pPr>
            <a:r>
              <a:t>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4343400"/>
            <a:ext cx="24688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657587"/>
                </a:solidFill>
                <a:latin typeface="Aptos"/>
              </a:defRPr>
            </a:pPr>
            <a:r>
              <a:t>Where does the next unit of spend work hardest?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Measure marketing effectiveness and identify a more efficient media allocation without increasing total spend.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One decision, connected across the analytical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Sales Units is the primary KPI; business controls separate media from underlying demand.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EDA &amp; modelling notebooks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12848"/>
            <a:ext cx="3465576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2322576"/>
            <a:ext cx="31363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578608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156 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212848"/>
            <a:ext cx="3465576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2322576"/>
            <a:ext cx="31363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TIME SPAN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78608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≈3 years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212848"/>
            <a:ext cx="3465576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322576"/>
            <a:ext cx="31363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MEDIA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78608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5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456432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Controls: Price  •  Promotion  •  Distribution  •  Holiday activity  •  Competitor activity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1691640" cy="56692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1" y="430682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Raw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05456" y="4251960"/>
            <a:ext cx="1691640" cy="56692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78608" y="430682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PostgreSQL</a:t>
            </a:r>
          </a:p>
          <a:p>
            <a:pPr>
              <a:spcAft>
                <a:spcPts val="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4251960"/>
            <a:ext cx="1691640" cy="56692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4" y="430682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251960"/>
            <a:ext cx="1691640" cy="56692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430682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4251960"/>
            <a:ext cx="1691640" cy="56692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74736" y="430682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Econometrics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59" y="4251960"/>
            <a:ext cx="1691640" cy="566928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40111" y="430682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10243A"/>
                </a:solidFill>
                <a:latin typeface="Aptos"/>
              </a:defRPr>
            </a:pPr>
            <a:r>
              <a:t>Adstock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83480"/>
            <a:ext cx="1691640" cy="56692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1" y="503834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Saturation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5456" y="4983480"/>
            <a:ext cx="1691640" cy="56692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8608" y="503834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MMM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70832" y="4983480"/>
            <a:ext cx="1691640" cy="56692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43984" y="503834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Attribution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4983480"/>
            <a:ext cx="1691640" cy="56692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503834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ROAS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4983480"/>
            <a:ext cx="1691640" cy="56692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74736" y="503834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Response</a:t>
            </a:r>
          </a:p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curves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66959" y="4983480"/>
            <a:ext cx="1691640" cy="566928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40111" y="5038344"/>
            <a:ext cx="1554480" cy="493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Optimisation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Reliable modelling starts with reliable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Raw records were preserved; repairs were documented in a data-quality audit log.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SQL validation &amp; cleaning scripts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166360" cy="512064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Row count &amp; duplicates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62656"/>
            <a:ext cx="5166360" cy="512064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035808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Missing values &amp; ranges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93591"/>
            <a:ext cx="5166360" cy="512064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666744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Business rules &amp;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24527"/>
            <a:ext cx="5166360" cy="512064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79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Weekly continuity &amp; revenue checks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28600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67D8D"/>
                </a:solidFill>
                <a:latin typeface="Aptos"/>
              </a:defRPr>
            </a:pPr>
            <a:r>
              <a:t>Six documented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507492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1 duplicate week → remove identical record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2 missing media values → local interpolation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1 missing distribution → local interpolation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1 negative OOH spend → invalidate &amp; interpolate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1 implausible promotion → local pattern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01768"/>
            <a:ext cx="2578608" cy="54864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511149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Raw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9856" y="5001768"/>
            <a:ext cx="2578608" cy="54864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38728" y="511149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5001768"/>
            <a:ext cx="2578608" cy="54864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18504" y="511149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Audit 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9408" y="5001768"/>
            <a:ext cx="2578608" cy="548640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5111496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Clean 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PostgreSQL techniques: CTEs, ROW_NUMBER, LAG / LEAD, COALESCE, constraints and an explicit audit trail.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Sales grew, but media spend alone cannot explain the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Long-term growth and seasonal fluctuations make business controls essential.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EDA notebook; values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10" name="Picture 9" descr="sale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60"/>
            <a:ext cx="7635240" cy="288493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49640" y="2240280"/>
            <a:ext cx="292608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14232" y="2350008"/>
            <a:ext cx="25968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2023 AVG. WEEKLY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606040"/>
            <a:ext cx="25968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≈105k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3291840"/>
            <a:ext cx="292608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3401568"/>
            <a:ext cx="25968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2024 AVG. WEEKLY 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3657600"/>
            <a:ext cx="25968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≈115k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4343400"/>
            <a:ext cx="292608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4453128"/>
            <a:ext cx="25968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2025 AVG. WEEKLY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4709160"/>
            <a:ext cx="259689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≈122k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Explore price, promotion, distribution, holidays and competition. Correlation is exploratory evidence, not causal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Separate marketing effects from other sales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A business-led regression establishes a baseline before adding transformed media.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Econometrics notebook; rounded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927080" cy="1033271"/>
          </a:xfrm>
          <a:prstGeom prst="round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Sales = Base demand + Price + Promotion + Distribution + Holiday</a:t>
            </a:r>
          </a:p>
          <a:p>
            <a:pPr>
              <a:spcAft>
                <a:spcPts val="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             + Competition + Trend + Seasonality + Media +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256032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767328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BASE MODEL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02336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≈0.816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657600"/>
            <a:ext cx="256032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3767328"/>
            <a:ext cx="22311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ADJUSTED R²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4023360"/>
            <a:ext cx="22311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≈0.804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Positive: distribution, holiday demand</a:t>
            </a:r>
          </a:p>
          <a:p>
            <a:pPr>
              <a:spcAft>
                <a:spcPts val="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Negative: price, competitor activity</a:t>
            </a:r>
          </a:p>
          <a:p>
            <a:pPr>
              <a:spcAft>
                <a:spcPts val="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Trend and seasonality provide time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Diagnostics: coefficient plausibility, uncertainty, VIF, residuals, heteroscedasticity and autocorrelation.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Advertising carries over—and eventually saturates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Raw weekly spend misses both delayed effects and diminishing returns.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MMM notebook; illustrative diagrams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10" name="Picture 9" descr="adstock_sat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10607040" cy="33252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02920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ADSTOCK</a:t>
            </a:r>
          </a:p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Spend(t) + λ × Adstock(t−1)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SATURATION</a:t>
            </a:r>
          </a:p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Adstock / (Adstock + θ)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Transformed media improved fit; uncertainty still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Compare like-for-like in-sample models, then examine the limits of interpretation.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MMM &amp; econometrics notebooks;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67712"/>
            <a:ext cx="6537960" cy="475488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4086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340864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40864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ADJ. 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340864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RMSE (units)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6537960" cy="47548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8529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Base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85292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5292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85292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5,896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91840"/>
            <a:ext cx="6537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3649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Raw media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364992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36499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364992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5,627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803904"/>
            <a:ext cx="6537960" cy="475488"/>
          </a:xfrm>
          <a:prstGeom prst="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87705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Adstock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877056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0.846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877056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87705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5,391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15968"/>
            <a:ext cx="65379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4389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Adstock + saturation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389120"/>
            <a:ext cx="822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38912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0.833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3891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5,339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2860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900" b="1">
                <a:solidFill>
                  <a:srgbClr val="167D8D"/>
                </a:solidFill>
                <a:latin typeface="Aptos"/>
              </a:defRPr>
            </a:pPr>
            <a:r>
              <a:t>Diagnostic findings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834640"/>
            <a:ext cx="379476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Raw-media diagnostics: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DW ≈1.84; BP p ≈0.981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HAC standard errors examined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Price / promotion VIF &gt;32</a:t>
            </a:r>
          </a:p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No holdout evaluation shown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Non-negative media attribution fit: R² ≈0.849; RMSE ≈5,341 units. Fit alone does not establish causal validity.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OOH and YouTube account for most modelled media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Counterfactual attribution removes each transformed channel while holding other inputs fixed.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MMM notebook; shares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0" name="Picture 9" descr="attribution_sha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60"/>
            <a:ext cx="7543800" cy="32623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458200" y="2331720"/>
            <a:ext cx="301752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22792" y="2441448"/>
            <a:ext cx="26883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MODELLED MEDIA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2792" y="2697479"/>
            <a:ext cx="26883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≈5.23m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566160"/>
            <a:ext cx="301752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22792" y="3675887"/>
            <a:ext cx="26883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OOH + YOUTUBE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3931920"/>
            <a:ext cx="268833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≈74%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754880"/>
            <a:ext cx="29260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Share of modelled media contribution, not total sales.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Meta’s fitted effect is approximately zero under the non-negative constraint; this is not proof of no effectiveness.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OOH and YouTube show the strongest revenue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ROAS measures incremental revenue per unit of media spend—not profit.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MMM notebook; ROAS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0" name="Picture 9" descr="ro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0"/>
            <a:ext cx="7589520" cy="31041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0" y="24231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67D8D"/>
                </a:solidFill>
                <a:latin typeface="Aptos"/>
              </a:defRPr>
            </a:pPr>
            <a:r>
              <a:t>Revenue ROAS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06324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Incremental units</a:t>
            </a:r>
          </a:p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× weekly average price</a:t>
            </a:r>
          </a:p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÷ channel spend</a:t>
            </a:r>
          </a:p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endParaRPr/>
          </a:p>
          <a:p>
            <a:pPr>
              <a:spcAft>
                <a:spcPts val="0"/>
              </a:spcAft>
              <a:defRPr sz="1700" b="0">
                <a:solidFill>
                  <a:srgbClr val="10243A"/>
                </a:solidFill>
                <a:latin typeface="Aptos"/>
              </a:defRPr>
            </a:pPr>
            <a:r>
              <a:t>Aggregated over 156 weeks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OOH ≈3.45× and YouTube ≈3.09×. TV ≈0.55×, Search ≈0.63×, Meta ≈0.00× in this fitted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Allocate the next unit of budget using marginal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Average ROAS describes the past mix; response curves guide incremental allocation.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MMM response functions;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 descr="respons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48840"/>
            <a:ext cx="7818120" cy="348131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32520" y="2286000"/>
            <a:ext cx="2788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67D8D"/>
                </a:solidFill>
                <a:latin typeface="Aptos"/>
              </a:defRPr>
            </a:pPr>
            <a:r>
              <a:t>Marginal units per</a:t>
            </a:r>
          </a:p>
          <a:p>
            <a:pPr>
              <a:spcAft>
                <a:spcPts val="0"/>
              </a:spcAft>
              <a:defRPr sz="1400" b="1">
                <a:solidFill>
                  <a:srgbClr val="167D8D"/>
                </a:solidFill>
                <a:latin typeface="Aptos"/>
              </a:defRPr>
            </a:pPr>
            <a:r>
              <a:t>BDT 1m weekly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154680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OOH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31546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67D8D"/>
                </a:solidFill>
                <a:latin typeface="Aptos"/>
              </a:defRPr>
            </a:pPr>
            <a:r>
              <a:t>≈3,790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547872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3547872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67D8D"/>
                </a:solidFill>
                <a:latin typeface="Aptos"/>
              </a:defRPr>
            </a:pPr>
            <a:r>
              <a:t>≈3,344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941064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941064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67D8D"/>
                </a:solidFill>
                <a:latin typeface="Aptos"/>
              </a:defRPr>
            </a:pPr>
            <a:r>
              <a:t>≈758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4334256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433425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67D8D"/>
                </a:solidFill>
                <a:latin typeface="Aptos"/>
              </a:defRPr>
            </a:pPr>
            <a:r>
              <a:t>≈495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4727448"/>
            <a:ext cx="1508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Meta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47274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600" b="1">
                <a:solidFill>
                  <a:srgbClr val="167D8D"/>
                </a:solidFill>
                <a:latin typeface="Aptos"/>
              </a:defRPr>
            </a:pPr>
            <a:r>
              <a:t>≈0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Dots mark current average weekly spend. Curves assume sustained spend and a steady-state adstock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The fixed-budget scenario reallocates toward stronger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Optimisation maximises steady-state media response with each channel limited to ±30%.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Allocation CSV &amp; MMM notebook;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0" name="Picture 9" descr="al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60"/>
            <a:ext cx="7589520" cy="30290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03920" y="2331720"/>
            <a:ext cx="2971800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68512" y="2441448"/>
            <a:ext cx="264261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UNCHANGED WEEKLY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697479"/>
            <a:ext cx="2642616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BDT 15.63m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749039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TV       −17.0%</a:t>
            </a:r>
          </a:p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Meta     −30.0%</a:t>
            </a:r>
          </a:p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Search   +30.0%</a:t>
            </a:r>
          </a:p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YouTube  +30.0%</a:t>
            </a:r>
          </a:p>
          <a:p>
            <a:pPr>
              <a:spcAft>
                <a:spcPts val="0"/>
              </a:spcAft>
              <a:defRPr sz="1700" b="1">
                <a:solidFill>
                  <a:srgbClr val="167D8D"/>
                </a:solidFill>
                <a:latin typeface="Aptos"/>
              </a:defRPr>
            </a:pPr>
            <a:r>
              <a:t>OOH      +30.0%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SLSQP solver  •  Fixed total budget  •  Non-negative spend  •  ±30% channel movement bounds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The model estimates 11.5% more media-driven sales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Same budget, different mix: scenario uplift applies to the media component, not total sales.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MMM optimisation outputs; rounded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3465576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2395728"/>
            <a:ext cx="31363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CURRENT MEDIA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6517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≈34.0k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286000"/>
            <a:ext cx="3465576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79" y="2395728"/>
            <a:ext cx="31363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OPTIMISED MEDIA UNITS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6517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≈37.9k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286000"/>
            <a:ext cx="3465576" cy="1051560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395728"/>
            <a:ext cx="313639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657587"/>
                </a:solidFill>
                <a:latin typeface="Aptos"/>
              </a:defRPr>
            </a:pPr>
            <a:r>
              <a:t>ESTIMATED WEEKLY INCREASE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651760"/>
            <a:ext cx="31363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700" b="1">
                <a:solidFill>
                  <a:srgbClr val="167D8D"/>
                </a:solidFill>
                <a:latin typeface="Aptos"/>
              </a:defRPr>
            </a:pPr>
            <a:r>
              <a:t>≈3.9k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0243A"/>
                </a:solidFill>
                <a:latin typeface="Aptos"/>
              </a:defRPr>
            </a:pPr>
            <a:r>
              <a:t>Budget movement 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794760"/>
            <a:ext cx="46634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10243A"/>
                </a:solidFill>
                <a:latin typeface="Aptos"/>
              </a:defRPr>
            </a:pPr>
            <a:r>
              <a:t>Estimated uplift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±15%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434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≈6.2%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±30%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800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≈11.5%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66359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±50%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16635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800" b="1">
                <a:solidFill>
                  <a:srgbClr val="167D8D"/>
                </a:solidFill>
                <a:latin typeface="Aptos"/>
              </a:defRPr>
            </a:pPr>
            <a:r>
              <a:t>≈17.6%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Model-estimated scenarios—not guaranteed future outcomes. Results depend on fitted coefficients and fixed response assumptions.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411480"/>
            <a:ext cx="73152" cy="274320"/>
          </a:xfrm>
          <a:prstGeom prst="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167D8D"/>
                </a:solidFill>
                <a:latin typeface="Aptos"/>
              </a:defRPr>
            </a:pPr>
            <a:r>
              <a:t>MARKETING ANALYTICS  /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10243A"/>
                </a:solidFill>
                <a:latin typeface="Aptos"/>
              </a:defRPr>
            </a:pPr>
            <a:r>
              <a:t>Use the scenario to design a measured allocation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57587"/>
                </a:solidFill>
                <a:latin typeface="Aptos"/>
              </a:defRPr>
            </a:pPr>
            <a:r>
              <a:t>Translate model evidence into a controlled learning plan before broad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45936"/>
            <a:ext cx="10927080" cy="11887"/>
          </a:xfrm>
          <a:prstGeom prst="rect">
            <a:avLst/>
          </a:prstGeom>
          <a:solidFill>
            <a:srgbClr val="D9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9966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657587"/>
                </a:solidFill>
                <a:latin typeface="Aptos"/>
              </a:defRPr>
            </a:pPr>
            <a:r>
              <a:t>SYNTHETIC PORTFOLIO DATA  •  Recommendations based on project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65758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548640" cy="548640"/>
          </a:xfrm>
          <a:prstGeom prst="round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432303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31720"/>
            <a:ext cx="996696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0243A"/>
                </a:solidFill>
                <a:latin typeface="Aptos"/>
              </a:defRPr>
            </a:pPr>
            <a:r>
              <a:t>Prioritise OOH and YouTube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52344"/>
            <a:ext cx="99669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657587"/>
                </a:solidFill>
                <a:latin typeface="Aptos"/>
              </a:defRPr>
            </a:pPr>
            <a:r>
              <a:t>Test phased increases where the model indicates stronger marginal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82696"/>
            <a:ext cx="548640" cy="548640"/>
          </a:xfrm>
          <a:prstGeom prst="round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338327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82696"/>
            <a:ext cx="996696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0243A"/>
                </a:solidFill>
                <a:latin typeface="Aptos"/>
              </a:defRPr>
            </a:pPr>
            <a:r>
              <a:t>Review TV and Meta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03320"/>
            <a:ext cx="99669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657587"/>
                </a:solidFill>
                <a:latin typeface="Aptos"/>
              </a:defRPr>
            </a:pPr>
            <a:r>
              <a:t>Reduce cautiously; investigate creative, audience quality and attribution uncertainty.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33672"/>
            <a:ext cx="548640" cy="548640"/>
          </a:xfrm>
          <a:prstGeom prst="roundRect">
            <a:avLst/>
          </a:prstGeom>
          <a:solidFill>
            <a:srgbClr val="167D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" y="43342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33672"/>
            <a:ext cx="996696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10243A"/>
                </a:solidFill>
                <a:latin typeface="Aptos"/>
              </a:defRPr>
            </a:pPr>
            <a:r>
              <a:t>Validate before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654296"/>
            <a:ext cx="99669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657587"/>
                </a:solidFill>
                <a:latin typeface="Aptos"/>
              </a:defRPr>
            </a:pPr>
            <a:r>
              <a:t>Add temporal holdouts, parameter sensitivity and channel or geo experiments.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50992"/>
            <a:ext cx="10927080" cy="521207"/>
          </a:xfrm>
          <a:prstGeom prst="roundRect">
            <a:avLst/>
          </a:prstGeom>
          <a:solidFill>
            <a:srgbClr val="ED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724144"/>
            <a:ext cx="10515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300" b="0">
                <a:solidFill>
                  <a:srgbClr val="10243A"/>
                </a:solidFill>
                <a:latin typeface="Aptos"/>
              </a:defRPr>
            </a:pPr>
            <a:r>
              <a:t>Portfolio capability: SQL governance → Python analysis → econometric controls → MMM → a testable budget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2247</Words>
  <Application>Microsoft Office PowerPoint</Application>
  <PresentationFormat>Widescreen</PresentationFormat>
  <Paragraphs>248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Maidul  Shanto</cp:lastModifiedBy>
  <cp:revision>1</cp:revision>
  <dcterms:created xsi:type="dcterms:W3CDTF">2013-01-27T09:14:16Z</dcterms:created>
  <dcterms:modified xsi:type="dcterms:W3CDTF">2026-10-11T21:42:02Z</dcterms:modified>
  <cp:category/>
</cp:coreProperties>
</file>